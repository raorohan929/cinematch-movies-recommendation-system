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640080"/>
            <a:ext cx="2743200" cy="2743200"/>
          </a:xfrm>
          <a:prstGeom prst="ellipse">
            <a:avLst/>
          </a:prstGeom>
          <a:ln w="12700">
            <a:solidFill>
              <a:srgbClr val="8B1E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/ MACHINE LEARNING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CineMatch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Content-Based Movie Recommendation System Using Machine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8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Yadav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Enrollment No. 230022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Pal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Science Trainer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•  Starex University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16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covers, from problem to deployed application.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5120640"/>
            <a:ext cx="3108960" cy="3108960"/>
          </a:xfrm>
          <a:prstGeom prst="ellipse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53035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530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502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335024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Literature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2139696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1226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1960" y="2944368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91693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37490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216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960" y="4553712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526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1960" y="5358384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53309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Future Scope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Information Overload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catalogues have grown far beyond what users can browse manually. Streaming and e-commerce platforms must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surface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relevant content rather than rely on search.
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fall into three broad families: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C6C9D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192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patterns across many users' ratings — powerful, but needs history and suffers cold-start.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886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1879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from an item's own attributes (genre, cast, plot) — works with zero user history.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C6C9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0566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approaches once interaction data becomes available.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1600200"/>
            <a:ext cx="4709160" cy="4572000"/>
          </a:xfrm>
          <a:prstGeom prst="rect">
            <a:avLst>
              <a:gd name="adj" fmla="val 1600"/>
            </a:avLst>
          </a:prstGeom>
          <a:solidFill>
            <a:srgbClr val="14162B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920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CineMatch Uses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TMDB dataset provides rich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metadata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genre, rating, popularity, vote counts — but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rating history.</a:t>
            </a:r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a KNN model over engineered movie features the most practical, directly-applicable approach.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69480" y="4846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as: offline notebook pipeline → serialised model bundle → interactive Streamlit app.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item-level movie metadata — no user history — how can a system generate recommendations for a chosen genre that are simultaneously: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97480" cy="3200400"/>
          </a:xfrm>
          <a:prstGeom prst="rect">
            <a:avLst>
              <a:gd name="adj" fmla="val 2373"/>
            </a:avLst>
          </a:prstGeom>
          <a:solidFill>
            <a:srgbClr val="F7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Genre-Consistent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genuinely belong to the requested genre, not just loosely related titles.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697480" cy="3200400"/>
          </a:xfrm>
          <a:prstGeom prst="rect">
            <a:avLst>
              <a:gd name="adj" fmla="val 2373"/>
            </a:avLst>
          </a:prstGeom>
          <a:solidFill>
            <a:srgbClr val="F7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788920"/>
            <a:ext cx="502920" cy="50292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474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Statistically Reliable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03320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rating from a handful of votes shouldn't outrank a well-established, broadly-voted film.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514600"/>
            <a:ext cx="2697480" cy="3200400"/>
          </a:xfrm>
          <a:prstGeom prst="rect">
            <a:avLst>
              <a:gd name="adj" fmla="val 2373"/>
            </a:avLst>
          </a:prstGeom>
          <a:solidFill>
            <a:srgbClr val="F7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27889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474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Popularity-Aware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29400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should reflect real audience reach, not rating alone.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514600"/>
            <a:ext cx="2697480" cy="3200400"/>
          </a:xfrm>
          <a:prstGeom prst="rect">
            <a:avLst>
              <a:gd name="adj" fmla="val 2373"/>
            </a:avLst>
          </a:prstGeom>
          <a:solidFill>
            <a:srgbClr val="F7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55480" y="2788920"/>
            <a:ext cx="502920" cy="50292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2" name="Text 20"/>
          <p:cNvSpPr/>
          <p:nvPr/>
        </p:nvSpPr>
        <p:spPr>
          <a:xfrm>
            <a:off x="95554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3474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Accessibly Delivered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555480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 interactive interface — not a static script or notebook.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6184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prepare the TMDB Top 10,000 Movies dataset for analysis and modelling.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6700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statistically sound weighted-rating metric using a Bayesian-average formulation.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37216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numeric feature vectors combining one-hot genre encoding with scaled popularity &amp; rating.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7731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k-Nearest Neighbours model with cosine similarity for genre-consistent retrieval.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3992" y="16184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validate a reusable recommend_by_genre() function on representative genres.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3992" y="26700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and visualise the feature space (distributions, correlation, PCA) to verify behaviour.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93992" y="37216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the pipeline and deploy it via an interactive Streamlit web application.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in Prior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ect">
            <a:avLst>
              <a:gd name="adj" fmla="val 4348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Adomavicius &amp; Tuzhilin (2005)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23360" y="178308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survey classifying content-based, collaborative, and hybrid approaches; motivated a content-based design given no user history.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6424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5351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Delimayanti et al. (2022)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2953512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+ cosine similarity on genre-based content filtering outperformed content similarity alone — directly informs CineMatch's architecture.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1051560"/>
          </a:xfrm>
          <a:prstGeom prst="rect">
            <a:avLst>
              <a:gd name="adj" fmla="val 4348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23944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Ahuja, Solanki &amp; Nayyar (2019)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4123944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before KNN search — identified as future work as the catalogue scales.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1106424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29437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Badugu &amp; Manivannan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5294376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and correlation-based neighbourhoods gave strong accuracy — reinforced the choice of cosine distance.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gap: most published KNN/collaborative recommenders use MovieLens or Netflix Prize data with rich user histories. TMDB Top 10K has item-level metadata only — the basis for this project's purely content-based design.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ect">
            <a:avLst>
              <a:gd name="adj" fmla="val 5185"/>
            </a:avLst>
          </a:prstGeom>
          <a:solidFill>
            <a:srgbClr val="1416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234440"/>
          </a:xfrm>
          <a:prstGeom prst="rect">
            <a:avLst>
              <a:gd name="adj" fmla="val 5185"/>
            </a:avLst>
          </a:prstGeom>
          <a:solidFill>
            <a:srgbClr val="14162B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9,658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unique movies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234440"/>
          </a:xfrm>
          <a:prstGeom prst="rect">
            <a:avLst>
              <a:gd name="adj" fmla="val 5185"/>
            </a:avLst>
          </a:prstGeom>
          <a:solidFill>
            <a:srgbClr val="14162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 → 12 with derived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234440"/>
          </a:xfrm>
          <a:prstGeom prst="rect">
            <a:avLst>
              <a:gd name="adj" fmla="val 5185"/>
            </a:avLst>
          </a:prstGeom>
          <a:solidFill>
            <a:srgbClr val="14162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genres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TMDB “Top 10K Movies” dataset (Kaggle) — id, title, genre, original_language, overview, popularity, release_date, vote_average, vote_count.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vote_average 6.62 (σ = 0.77), range 4.6–8.7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 heavily right-skewed: 200 – 31,917 (mean 1,547)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even more skewed: 0.6 – 10,000+ (mean ≈ 34.7)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years span 1902–2022; 78.1% English-language titles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and Comedy are the most frequent genres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3703320"/>
            <a:ext cx="4983480" cy="2606040"/>
          </a:xfrm>
          <a:prstGeom prst="rect">
            <a:avLst>
              <a:gd name="adj" fmla="val 2456"/>
            </a:avLst>
          </a:prstGeom>
          <a:solidFill>
            <a:srgbClr val="F7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Fixes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42976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records missing genre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records missing overview (filled, not modelled)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duplicate titles removed (first kept)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removed total →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9,658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Key Rating Metrics</a:t>
            </a:r>
            <a:endParaRPr lang="en-US" sz="3000" dirty="0"/>
          </a:p>
        </p:txBody>
      </p:sp>
      <p:pic>
        <p:nvPicPr>
          <p:cNvPr id="4" name="Image 0" descr="/home/claude/pptx_work/images/eda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3072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average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roughly bell-shaped around 6.6, while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strongly right-skewed even on a log scale — motivating MinMax scaling before these features enter the model.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Composition of the Catalogue</a:t>
            </a:r>
            <a:endParaRPr lang="en-US" sz="3000" dirty="0"/>
          </a:p>
        </p:txBody>
      </p:sp>
      <p:pic>
        <p:nvPicPr>
          <p:cNvPr id="4" name="Image 0" descr="/home/claude/pptx_work/images/eda_genre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508760"/>
            <a:ext cx="64922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(~4,400) and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(~3,650) dominate the catalogue.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distinct genres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occupy 18 of the 20 model feature dimensions, so genre is the primary axis the KNN search organises movies along.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Rating — Bayesian Average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purely by vote_average is unreliable for low-vote titles. CineMatch uses IMDB's Bayesian-average formulation: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54480" y="2240280"/>
            <a:ext cx="9052560" cy="960120"/>
          </a:xfrm>
          <a:prstGeom prst="rect">
            <a:avLst>
              <a:gd name="adj" fmla="val 7619"/>
            </a:avLst>
          </a:prstGeom>
          <a:solidFill>
            <a:srgbClr val="14162B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40280"/>
            <a:ext cx="9052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  =  ( v ÷ (v + m) ) × R   +   ( m ÷ (v + m) ) × 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697480" cy="1051560"/>
          </a:xfrm>
          <a:prstGeom prst="rect">
            <a:avLst>
              <a:gd name="adj" fmla="val 5217"/>
            </a:avLst>
          </a:prstGeom>
          <a:solidFill>
            <a:srgbClr val="F7F7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639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3566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Movie's own vote_average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520440"/>
            <a:ext cx="2697480" cy="1051560"/>
          </a:xfrm>
          <a:prstGeom prst="rect">
            <a:avLst>
              <a:gd name="adj" fmla="val 5217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3639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69080" y="3566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Movie's vote_count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2697480" cy="1051560"/>
          </a:xfrm>
          <a:prstGeom prst="rect">
            <a:avLst>
              <a:gd name="adj" fmla="val 5217"/>
            </a:avLst>
          </a:prstGeom>
          <a:solidFill>
            <a:srgbClr val="F7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639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3566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vote_average across dataset = 6.636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3520440"/>
            <a:ext cx="2697480" cy="1051560"/>
          </a:xfrm>
          <a:prstGeom prst="rect">
            <a:avLst>
              <a:gd name="adj" fmla="val 5217"/>
            </a:avLst>
          </a:prstGeom>
          <a:solidFill>
            <a:srgbClr val="F7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639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38360" y="3566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Min-votes threshold (75th percentile) = 1,454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with very few votes (v ≪ m) is pulled toward the dataset mean C, while a movie with many votes (v ≫ m) is scored close to its own rating R — preventing small-sample outliers from dominating rankings.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Model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20-Dimensional Feature Vector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0" cy="68580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one-hot genre columns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(MultiLabelBinarizer)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057400"/>
            <a:ext cx="914400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057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×1.5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0" y="2057400"/>
            <a:ext cx="914400" cy="685800"/>
          </a:xfrm>
          <a:prstGeom prst="rect">
            <a:avLst/>
          </a:prstGeom>
          <a:solidFill>
            <a:srgbClr val="B8933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2057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×1.5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are one-hot encoded; popularity &amp; vote_average are MinMax-scaled to [0,1] then weighted, so both signals shape similarity without one implying the other.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matrix shape: (9658, 20)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Recommendation Function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NearestNeighbors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(metric="cosine", algorithm="brute", n_neighbors=50) — angle-based similarity suits a feature space dominated by sparse binary genre indicators.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29200" cy="4572000"/>
          </a:xfrm>
          <a:prstGeom prst="rect">
            <a:avLst>
              <a:gd name="adj" fmla="val 1600"/>
            </a:avLst>
          </a:prstGeom>
          <a:solidFill>
            <a:srgbClr val="14162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recommend_by_genre()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242316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3500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“ideal profile” query vector — a 1 for the requested genre, plus configured popularity / rating weights.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35584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3282696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kneighbors() retrieves up to 200 nearest candidates by cosine distance.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4288536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4215384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candidates to those tagged with the genre and meeting the minimum vote_count.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5221224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514807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weighted_rating, then popularity; return the top_n results.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Rating &amp; Popularity Metrics</a:t>
            </a:r>
            <a:endParaRPr lang="en-US" sz="2700" dirty="0"/>
          </a:p>
        </p:txBody>
      </p:sp>
      <p:pic>
        <p:nvPicPr>
          <p:cNvPr id="4" name="Image 0" descr="/home/claude/pptx_work/images/eda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463040"/>
            <a:ext cx="4754880" cy="3959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weighted_rating ↔ vote_average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 = 0.85 — expected, since one derives from the other.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↔ vote_average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 = 0.06 — nearly independent.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justifies including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popularity and rating explicitly in the feature vector, rather than assuming one implies the other.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732520" y="2011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↔ weighted_rating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 = 0.07 — also weak, reinforcing that popularity and quality are separate signals in this dataset.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PCA Projection of the Feature Space</a:t>
            </a:r>
            <a:endParaRPr lang="en-US" sz="3000" dirty="0"/>
          </a:p>
        </p:txBody>
      </p:sp>
      <p:pic>
        <p:nvPicPr>
          <p:cNvPr id="4" name="Image 0" descr="/home/claude/pptx_work/images/eda_pca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417320"/>
            <a:ext cx="5669280" cy="45354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920240"/>
            <a:ext cx="2606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20-D feature matrix, coloured by primary genre, projected to 2 dimensions.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genres form loosely separated regions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visibly Animation, Horror, and Thriller.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genre one-hot encoding (18 of 20 dimensions) dominates the neighbourhood structure the KNN model searches over.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Notebook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621792"/>
          </a:xfrm>
          <a:prstGeom prst="rect">
            <a:avLst>
              <a:gd name="adj" fmla="val 7353"/>
            </a:avLst>
          </a:prstGeom>
          <a:solidFill>
            <a:srgbClr val="F7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621792"/>
          </a:xfrm>
          <a:prstGeom prst="rect">
            <a:avLst>
              <a:gd name="adj" fmla="val 7353"/>
            </a:avLst>
          </a:prstGeom>
          <a:solidFill>
            <a:srgbClr val="F7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MultiLabelBinarizer, MinMaxScaler, NearestNeighbors, PCA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94960" cy="621792"/>
          </a:xfrm>
          <a:prstGeom prst="rect">
            <a:avLst>
              <a:gd name="adj" fmla="val 7353"/>
            </a:avLst>
          </a:prstGeom>
          <a:solidFill>
            <a:srgbClr val="F7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347472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visualisation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94960" cy="621792"/>
          </a:xfrm>
          <a:prstGeom prst="rect">
            <a:avLst>
              <a:gd name="adj" fmla="val 7353"/>
            </a:avLst>
          </a:prstGeom>
          <a:solidFill>
            <a:srgbClr val="F7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420624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serialisation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5394960" cy="621792"/>
          </a:xfrm>
          <a:prstGeom prst="rect">
            <a:avLst>
              <a:gd name="adj" fmla="val 7353"/>
            </a:avLst>
          </a:prstGeom>
          <a:solidFill>
            <a:srgbClr val="F7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51760" y="493776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Eight-Stage Notebook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9110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587752"/>
            <a:ext cx="329184" cy="32918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532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3209544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weighted rating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831336"/>
            <a:ext cx="329184" cy="32918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831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37764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one-hot + scaled feature matrix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453128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453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4398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NearestNeighbors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5074920"/>
            <a:ext cx="329184" cy="32918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5074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50200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recommendation function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5696712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5696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5641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 recommendations (sanity check)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09360" y="6318504"/>
            <a:ext cx="329184" cy="329184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6318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12280" y="6263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final bundle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309360" y="69860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prints a labelled progress summary — the notebook is self-documenting and easy to re-run end-to-end.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CineMatch Streamlit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with a “late-night cinema” theme — dark navy, gold and velvet-red accents. Model bundle (movies1.pkl) loaded once via st.cache_resource.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868680"/>
          </a:xfrm>
          <a:prstGeom prst="rect">
            <a:avLst>
              <a:gd name="adj" fmla="val 7368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9,658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in Library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06040" cy="868680"/>
          </a:xfrm>
          <a:prstGeom prst="rect">
            <a:avLst>
              <a:gd name="adj" fmla="val 7368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337560" y="2450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Tracked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2606040" cy="868680"/>
          </a:xfrm>
          <a:prstGeom prst="rect">
            <a:avLst>
              <a:gd name="adj" fmla="val 7368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 / 10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26480" y="2450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606040" cy="868680"/>
          </a:xfrm>
          <a:prstGeom prst="rect">
            <a:avLst>
              <a:gd name="adj" fmla="val 7368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915400" y="2450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Screening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5349240" cy="1463040"/>
          </a:xfrm>
          <a:prstGeom prst="rect">
            <a:avLst>
              <a:gd name="adj" fmla="val 5000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2644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2095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Screening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8096" y="37033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genre, pick count, min votes, release-year range, sort order (best match / highest rated / most popular / newest / oldest), grid/list layout.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063240"/>
            <a:ext cx="5349240" cy="1463040"/>
          </a:xfrm>
          <a:prstGeom prst="rect">
            <a:avLst>
              <a:gd name="adj" fmla="val 5000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32644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483096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2095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Result Views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83096" y="37033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scatter (rating vs popularity, size = votes, colour = weighted rating) plus illustrated 'movie ticket' cards.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5349240" cy="1463040"/>
          </a:xfrm>
          <a:prstGeom prst="rect">
            <a:avLst>
              <a:gd name="adj" fmla="val 5000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495604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956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90118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Watchlist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8096" y="53949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has an Add-to-Watchlist checkbox; the sidebar tracks saved titles via st.session_state.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4754880"/>
            <a:ext cx="5349240" cy="1463040"/>
          </a:xfrm>
          <a:prstGeom prst="rect">
            <a:avLst>
              <a:gd name="adj" fmla="val 5000"/>
            </a:avLst>
          </a:prstGeom>
          <a:solidFill>
            <a:srgbClr val="1E2140"/>
          </a:solidFill>
          <a:ln w="9525">
            <a:solidFill>
              <a:srgbClr val="353A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495604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4956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490118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Export &amp; Landing View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83096" y="53949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 set exportable as CSV; landing view shows a library-wide genre-distribution chart before any query is run.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Movies by Weighted Rating</a:t>
            </a:r>
            <a:endParaRPr lang="en-US" sz="3000" dirty="0"/>
          </a:p>
        </p:txBody>
      </p:sp>
      <p:pic>
        <p:nvPicPr>
          <p:cNvPr id="4" name="Image 0" descr="/home/claude/pptx_work/images/eda_top10_weigh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2103120"/>
            <a:ext cx="3520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Shawshank Redemption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Godfather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the list — all entries are widely-recognised, high-vote-count titles.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Bayesian correction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suppresses low-vote-count outliers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could otherwise dominate a plain average-rating ranking.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Recommendations — Genre: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three representative genres (Action, Comedy, Animation). In every case, top results are well-known, critically regarded titles for that genre.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0607040" cy="3291840"/>
        </p:xfrm>
        <a:graphic>
          <a:graphicData uri="http://schemas.openxmlformats.org/drawingml/2006/table">
            <a:tbl>
              <a:tblPr/>
              <a:tblGrid>
                <a:gridCol w="5120640"/>
                <a:gridCol w="1188720"/>
                <a:gridCol w="118872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Lord of the Rings: The Return of the 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Lord of the Rings: The Fellowship of the 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Lord of the Rings: The Two Towers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Empire Strikes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top pick: Life of Brian (1979)   ·   Animation top pick: Spirited Away (2001)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EVALUATION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Evaluated — and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user-interaction history exists, so standard metrics like RMSE or precision@k are inapplicable. Two proxy checks were used instead: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03520" cy="960120"/>
          </a:xfrm>
          <a:prstGeom prst="rect">
            <a:avLst>
              <a:gd name="adj" fmla="val 5714"/>
            </a:avLst>
          </a:prstGeom>
          <a:solidFill>
            <a:srgbClr val="F7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16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Consistency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construction — results are filtered to require genre membership before ranking.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03520" cy="960120"/>
          </a:xfrm>
          <a:prstGeom prst="rect">
            <a:avLst>
              <a:gd name="adj" fmla="val 5714"/>
            </a:avLst>
          </a:prstGeom>
          <a:solidFill>
            <a:srgbClr val="F7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13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Rating Validation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2245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returned titles are well-regarded, high-vote-count films, not statistical anomalies.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11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combining content-based + collaborative filtering once interaction data exists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670048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624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before search to cut query latency as the catalogue grows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328416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328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2826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features: cast, director, keywords, or plot embeddings (TF-IDF / sentence embeddings)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986784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986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9410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offline evaluation via genre-holdout / precision@k protocol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64515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645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5994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“Similar to X” query using the existing fitted encoder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5303520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5303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5257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account-backed watchlists with public deployment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— Content-Based Movie Recommendation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ln w="12700">
            <a:solidFill>
              <a:srgbClr val="8B1E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Deployable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Pipeline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demonstrates that a purely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KNN pipeline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Bayesian-adjusted weighted rating, a 20-D engineered feature space, and cosine-similarity search — can deliver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genre-consistent, statistically reliable, and popularity-aware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recommendations, end-to-end, through an interactive Streamlit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011680" cy="0"/>
          </a:xfrm>
          <a:prstGeom prst="line">
            <a:avLst/>
          </a:prstGeom>
          <a:noFill/>
          <a:ln w="25400">
            <a:solidFill>
              <a:srgbClr val="8B1E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Yadav  ·  Enrollment No. 230022  ·  Starex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2026-07-22T07:46:27Z</dcterms:created>
  <dcterms:modified xsi:type="dcterms:W3CDTF">2026-07-22T07:46:27Z</dcterms:modified>
</cp:coreProperties>
</file>